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thank you for the time. This is a 15-minute walkthrough of the capstone project: a credit-default model built to be simultaneously accurate, explainable to a human reviewer, and audited/corrected for demographic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whole talk before the details: we have a strong, explainable model; we found real bias; we measured it and materially reduced it; and we proved the audit approach isn't a one-off by repeating it on an independent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technical work in why a senior audience should care: accuracy is table stakes, but explainability and fairness are what keep the model deployable and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scope reduction — stakeholders respect a clearly reasoned MVP cut far more than an over-promised plan. The reasoning: the full matrix was infeasible in the timeframe; reweighing was chosen because it works identically for both model families with zero architecture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datasets, two jobs. Home Credit is the real modeling target. HMDA exists purely to stress-test whether our fairness-auditing approach holds up on a completely independent dataset with different features and a different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meant to build confidence in rigor, not to be read line by line: the whole thing is one reproducible, config-driven pipeline, and sensitive attributes never leak into the model itself — only into the audit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XGBoost tuned is the production candidate. Emphasize we didn't cherry-pick ROC-AUC — PR-AUC and Brier score are reported because the class imbalance (~8% defaults) can make ROC-AUC look better than the model really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External bureau scores and the credit-term ratio dominate — intuitive, auditable drivers, not opaque interactions. And this isn't only a portfolio-level view: every single applicant gets their own waterfall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uncomfortable-but-necessary slide: on the untouched tuned model, both gender and age group fail the four-fifths rule. We're not hiding this — it's exactly what the audit stage exists to catch, and it's what motivates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Reweighing meaningfully closes the gap on both attributes without touching model architecture. Be candid about the cost: ROC-AUC drops about 5 points. Frame it as a deliberate, quantified tradeoff for stakeholders to weigh — not a hidden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to answer the skeptical question: 'did you just get lucky tuning the audit to one dataset?' No — rerun cold on HMDA mortgage data, the same audit catches a real race-based disparity there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Precommit to intellectual honesty here: this slide heads off the hardest questions before they're asked. None of these are surprises we're hiding — they're documented limitations from day one of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forward motion: a concrete near-term list stakeholders can greenlight today, and a longer-term list that needs their sponsorship (legal review, more data, monitoring).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floor. Likely questions to be ready for: the ROC-AUC/fairness tradeoff number, why reweighing over other mitigation techniques, and the legal standing of the four-fifths rule — all three are covered on the limitations slide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QM640 DATA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Credit Default Prediction: Explainable AI &amp; Bias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159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7D2E0"/>
                </a:solidFill>
                <a:latin typeface="Calibri"/>
              </a:rPr>
              <a:t>A responsible-AI credit-risk pipeline: accurate, explainable, and fairness-audited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9BA"/>
                </a:solidFill>
                <a:latin typeface="Calibri"/>
              </a:rPr>
              <a:t>Prepared for Senior Stakeholder Review  |  Sailen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60-second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6335C"/>
                </a:solidFill>
                <a:latin typeface="Calibri"/>
              </a:rPr>
              <a:t>0.769</a:t>
            </a:r>
          </a:p>
          <a:p>
            <a:pPr algn="ctr"/>
            <a:r>
              <a:rPr sz="1250">
                <a:solidFill>
                  <a:srgbClr val="4B5563"/>
                </a:solidFill>
                <a:latin typeface="Calibri"/>
              </a:rPr>
              <a:t>Best model ROC-AUC
(XGBoost, tuned)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916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6335C"/>
                </a:solidFill>
                <a:latin typeface="Calibri"/>
              </a:rPr>
              <a:t>0.677 → 0.821</a:t>
            </a:r>
          </a:p>
          <a:p>
            <a:pPr algn="ctr"/>
            <a:r>
              <a:rPr sz="1250">
                <a:solidFill>
                  <a:srgbClr val="4B5563"/>
                </a:solidFill>
                <a:latin typeface="Calibri"/>
              </a:rPr>
              <a:t>Gender fairness ratio
pre → post mitigation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916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6335C"/>
                </a:solidFill>
                <a:latin typeface="Calibri"/>
              </a:rPr>
              <a:t>2</a:t>
            </a:r>
          </a:p>
          <a:p>
            <a:pPr algn="ctr"/>
            <a:r>
              <a:rPr sz="1250">
                <a:solidFill>
                  <a:srgbClr val="4B5563"/>
                </a:solidFill>
                <a:latin typeface="Calibri"/>
              </a:rPr>
              <a:t>Datasets audited
(Home Credit + HMDA)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▪ We built and tuned a default-risk model on 307,511 real Home Credit loan applications, reaching ROC-AUC 0.769 — a meaningful lift over both baselines.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▪ Every prediction is explainable: SHAP shows loan officers and regulators exactly why a score was assigned, down to the individual applicant.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▪ An initial fairness audit found real disparities by gender and age group (both failed the four-fifths rule). We applied bias mitigation (reweighing) and closed most of the gap.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▪ The same audit methodology was independently re-validated on a second, unrelated dataset (HMDA mortgage data, 716K records) — it generalizes.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▪ Bottom line: the model is materially more accurate than baseline, its decisions are explainable, and its fairness gaps are measured and actively being corrected — not just claimed.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Calibri"/>
              </a:rPr>
              <a:t>▪ Credit-default models drive real lending decisions — approve, decline, or price a loan.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Calibri"/>
              </a:rPr>
              <a:t>▪ Three failure modes stakeholders care about:</a:t>
            </a:r>
          </a:p>
          <a:p>
            <a:pPr lvl="1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– A model that's inaccurate → bad loans approved, good customers declined</a:t>
            </a:r>
          </a:p>
          <a:p>
            <a:pPr lvl="1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– A model that's a black box → can't justify a decision to a customer, auditor, or regulator</a:t>
            </a:r>
          </a:p>
          <a:p>
            <a:pPr lvl="1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– A model that's biased → legal, reputational, and regulatory exposure (fair-lending laws: ECOA / Reg B)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Calibri"/>
              </a:rPr>
              <a:t>▪ This project treats all three as first-class, measurable requirements — not after-the-fact add-ons.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91640"/>
            <a:ext cx="5120640" cy="43891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3200"/>
          <a:lstStyle/>
          <a:p>
            <a:pPr algn="l"/>
            <a:r>
              <a:rPr b="1" sz="1700">
                <a:solidFill>
                  <a:srgbClr val="16335C"/>
                </a:solidFill>
                <a:latin typeface="Calibri"/>
              </a:rPr>
              <a:t>Project objective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14B8A6"/>
                </a:solidFill>
                <a:latin typeface="Calibri"/>
              </a:rPr>
              <a:t>Accurate:  </a:t>
            </a:r>
            <a:r>
              <a:rPr sz="1450">
                <a:solidFill>
                  <a:srgbClr val="1E293B"/>
                </a:solidFill>
                <a:latin typeface="Calibri"/>
              </a:rPr>
              <a:t>Beat baseline default-prediction performance under real class imbalance (~8% default rate).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14B8A6"/>
                </a:solidFill>
                <a:latin typeface="Calibri"/>
              </a:rPr>
              <a:t>Explainable:  </a:t>
            </a:r>
            <a:r>
              <a:rPr sz="1450">
                <a:solidFill>
                  <a:srgbClr val="1E293B"/>
                </a:solidFill>
                <a:latin typeface="Calibri"/>
              </a:rPr>
              <a:t>Every score traceable to feature-level reasons via SHAP — global and per-applicant.</a:t>
            </a:r>
          </a:p>
          <a:p>
            <a:pPr>
              <a:spcBef>
                <a:spcPts val="1400"/>
              </a:spcBef>
            </a:pPr>
            <a:r>
              <a:rPr b="1" sz="1500">
                <a:solidFill>
                  <a:srgbClr val="F59E0B"/>
                </a:solidFill>
                <a:latin typeface="Calibri"/>
              </a:rPr>
              <a:t>Fair:  </a:t>
            </a:r>
            <a:r>
              <a:rPr sz="1450">
                <a:solidFill>
                  <a:srgbClr val="1E293B"/>
                </a:solidFill>
                <a:latin typeface="Calibri"/>
              </a:rPr>
              <a:t>Formally audit for disparate impact by gender/age/race and mitigate what we find.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 built — and what we deliberately didn't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Calibri"/>
              </a:rPr>
              <a:t>▪ Home Credit Default Risk (Kaggle): the full pipeline — EDA, feature engineering, baseline + tuned models, evaluation, SHAP, fairness audit, and bias mitigation.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Calibri"/>
              </a:rPr>
              <a:t>▪ HMDA mortgage data (CFPB): fairness-audit-only, on an independent dataset and target, to test whether the fairness methodology generalizes beyond Home Credit.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77639"/>
            <a:ext cx="10881360" cy="214884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77800"/>
          <a:lstStyle/>
          <a:p>
            <a:pPr algn="ctr"/>
            <a:r>
              <a:rPr b="1" sz="1550">
                <a:solidFill>
                  <a:srgbClr val="92630A"/>
                </a:solidFill>
                <a:latin typeface="Calibri"/>
              </a:rPr>
              <a:t>Scoped down from the original proposal, deliberately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785008"/>
                </a:solidFill>
                <a:latin typeface="Calibri"/>
              </a:rPr>
              <a:t>▪ Original plan: 2 full pipelines × 2 model families × 3 mitigation techniques — judged infeasible for a single capstone term.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785008"/>
                </a:solidFill>
                <a:latin typeface="Calibri"/>
              </a:rPr>
              <a:t>▪ Delivered: 1 full pipeline (Home Credit) + 1 fairness-audit-only pipeline (HMDA) + 1 mitigation technique (reweighing), chosen because it's model-agnostic and needs no architecture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Two real-world datasets, two different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 rIns="177800"/>
          <a:lstStyle/>
          <a:p>
            <a:pPr algn="ctr"/>
            <a:r>
              <a:rPr b="1" sz="1700">
                <a:solidFill>
                  <a:srgbClr val="16335C"/>
                </a:solidFill>
                <a:latin typeface="Calibri"/>
              </a:rPr>
              <a:t>Home Credit Default Risk (Kaggle)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14B8A6"/>
                </a:solidFill>
                <a:latin typeface="Calibri"/>
              </a:rPr>
              <a:t>Size
</a:t>
            </a:r>
            <a:r>
              <a:rPr sz="1450">
                <a:solidFill>
                  <a:srgbClr val="1E293B"/>
                </a:solidFill>
                <a:latin typeface="Calibri"/>
              </a:rPr>
              <a:t>307,511 rows × 122 columns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14B8A6"/>
                </a:solidFill>
                <a:latin typeface="Calibri"/>
              </a:rPr>
              <a:t>Role
</a:t>
            </a:r>
            <a:r>
              <a:rPr sz="1450">
                <a:solidFill>
                  <a:srgbClr val="1E293B"/>
                </a:solidFill>
                <a:latin typeface="Calibri"/>
              </a:rPr>
              <a:t>Primary modeling dataset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14B8A6"/>
                </a:solidFill>
                <a:latin typeface="Calibri"/>
              </a:rPr>
              <a:t>Target
</a:t>
            </a:r>
            <a:r>
              <a:rPr sz="1450">
                <a:solidFill>
                  <a:srgbClr val="1E293B"/>
                </a:solidFill>
                <a:latin typeface="Calibri"/>
              </a:rPr>
              <a:t>TARGET — loan default (8.07% positive rate)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 rIns="177800"/>
          <a:lstStyle/>
          <a:p>
            <a:pPr algn="ctr"/>
            <a:r>
              <a:rPr b="1" sz="1700">
                <a:solidFill>
                  <a:srgbClr val="16335C"/>
                </a:solidFill>
                <a:latin typeface="Calibri"/>
              </a:rPr>
              <a:t>HMDA — CFPB Mortgage Data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59E0B"/>
                </a:solidFill>
                <a:latin typeface="Calibri"/>
              </a:rPr>
              <a:t>Size
</a:t>
            </a:r>
            <a:r>
              <a:rPr sz="1450">
                <a:solidFill>
                  <a:srgbClr val="1E293B"/>
                </a:solidFill>
                <a:latin typeface="Calibri"/>
              </a:rPr>
              <a:t>715,927 rows × 22 columns (nationwide 2008–2017 sample)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59E0B"/>
                </a:solidFill>
                <a:latin typeface="Calibri"/>
              </a:rPr>
              <a:t>Role
</a:t>
            </a:r>
            <a:r>
              <a:rPr sz="1450">
                <a:solidFill>
                  <a:srgbClr val="1E293B"/>
                </a:solidFill>
                <a:latin typeface="Calibri"/>
              </a:rPr>
              <a:t>Fairness audit-only, second opinion on methodology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59E0B"/>
                </a:solidFill>
                <a:latin typeface="Calibri"/>
              </a:rPr>
              <a:t>Target
</a:t>
            </a:r>
            <a:r>
              <a:rPr sz="1450">
                <a:solidFill>
                  <a:srgbClr val="1E293B"/>
                </a:solidFill>
                <a:latin typeface="Calibri"/>
              </a:rPr>
              <a:t>high_cost_flag — pricing proxy (5.77% positive rate)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563"/>
                </a:solidFill>
                <a:latin typeface="Calibri"/>
              </a:rPr>
              <a:t>Both are real data (no synthetic fallback used for this run). HMDA's target is derived (rate_spread reported ⇒ high-cost loan), not a raw approval/denial field — so it is never compared apples-to-apples with Home Credit's default target.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End-to-end pipeline, one config, ten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1. Load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9125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2. EDA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5330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3. Feature
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1535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4. Baseline
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7740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5. Hyper-
tuning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3945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6.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150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7. SHAP
explain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6355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8. Fairness
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12560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9. Bias
mitigation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38765" y="2331720"/>
            <a:ext cx="1050005" cy="10515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10. HMDA
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93B"/>
                </a:solidFill>
                <a:latin typeface="Calibri"/>
              </a:rPr>
              <a:t>▪ One config file (config/config.yaml) drives every stage — paths, seeds, hyperparameter ranges, and the fairness threshold are defined exactly once.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93B"/>
                </a:solidFill>
                <a:latin typeface="Calibri"/>
              </a:rPr>
              <a:t>▪ Protected attributes (gender, age group, race, sex) are excluded from model features by design — used only for the post-hoc fairness audit, matching standard fair-lending practice.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93B"/>
                </a:solidFill>
                <a:latin typeface="Calibri"/>
              </a:rPr>
              <a:t>▪ Fully reproducible: python scripts/run_pipeline.py regenerates every model, figure, and metric in this deck from raw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Tuning improved every model — XGBoost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9212"/>
            <a:ext cx="6492240" cy="405685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691640"/>
          <a:ext cx="4297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"/>
                <a:gridCol w="859536"/>
                <a:gridCol w="859536"/>
                <a:gridCol w="859536"/>
                <a:gridCol w="859536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T="38100" marB="38100">
                    <a:solidFill>
                      <a:srgbClr val="163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LogReg</a:t>
                      </a:r>
                    </a:p>
                    <a:p>
                      <a:r>
                        <a:t>Baseline</a:t>
                      </a:r>
                    </a:p>
                  </a:txBody>
                  <a:tcPr anchor="ctr" marT="38100" marB="38100">
                    <a:solidFill>
                      <a:srgbClr val="163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LogReg</a:t>
                      </a:r>
                    </a:p>
                    <a:p>
                      <a:r>
                        <a:t>Tuned</a:t>
                      </a:r>
                    </a:p>
                  </a:txBody>
                  <a:tcPr anchor="ctr" marT="38100" marB="38100">
                    <a:solidFill>
                      <a:srgbClr val="163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  <a:p>
                      <a:r>
                        <a:t>Baseline</a:t>
                      </a:r>
                    </a:p>
                  </a:txBody>
                  <a:tcPr anchor="ctr" marT="38100" marB="38100">
                    <a:solidFill>
                      <a:srgbClr val="163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  <a:p>
                      <a:r>
                        <a:t>Tuned ★</a:t>
                      </a:r>
                    </a:p>
                  </a:txBody>
                  <a:tcPr anchor="ctr" marT="38100" marB="38100">
                    <a:solidFill>
                      <a:srgbClr val="1633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0.748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0.749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0.730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4B8A6"/>
                          </a:solidFill>
                          <a:latin typeface="Calibri"/>
                        </a:rPr>
                        <a:t>0.769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0.230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0.225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4B8A6"/>
                          </a:solidFill>
                          <a:latin typeface="Calibri"/>
                        </a:rPr>
                        <a:t>0.259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KS stat.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0.370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0.368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Calibri"/>
                        </a:rPr>
                        <a:t>0.341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4B8A6"/>
                          </a:solidFill>
                          <a:latin typeface="Calibri"/>
                        </a:rPr>
                        <a:t>0.401</a:t>
                      </a:r>
                    </a:p>
                  </a:txBody>
                  <a:tcPr anchor="ctr" marT="38100" marB="381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4251960"/>
            <a:ext cx="4343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93B"/>
                </a:solidFill>
                <a:latin typeface="Calibri"/>
              </a:rPr>
              <a:t>▪ XGBoost (tuned) is the best model: ROC-AUC 0.769, PR-AUC 0.259, KS 0.401.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93B"/>
                </a:solidFill>
                <a:latin typeface="Calibri"/>
              </a:rPr>
              <a:t>▪ PR-AUC and Brier are tracked alongside ROC-AUC because the ~8% default rate makes ROC-AUC alone misleading under class imbalance.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93B"/>
                </a:solidFill>
                <a:latin typeface="Calibri"/>
              </a:rPr>
              <a:t>▪ Hyperparameters tuned via RandomizedSearchCV (LR) and Optuna/TPE (XGBoost), both optimizing cross-validated ROC-AUC.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Every prediction has a reason — not a black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xgboost_tuned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12" y="1600200"/>
            <a:ext cx="4307735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169164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▪ Top global drivers of the default score: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▪ External credit bureau score (avg)  —  mean |SHAP| 0.52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▪ Credit term (annuity / loan amount)  —  mean |SHAP| 0.17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▪ External credit bureau score #3  —  mean |SHAP| 0.13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▪ Goods price vs. credit ratio  —  mean |SHAP| 0.11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▪ Loan annuity amount  —  mean |SHAP| 0.10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20624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/>
          <a:lstStyle/>
          <a:p>
            <a:pPr algn="ctr"/>
            <a:r>
              <a:rPr b="1" sz="1450">
                <a:solidFill>
                  <a:srgbClr val="16335C"/>
                </a:solidFill>
                <a:latin typeface="Calibri"/>
              </a:rPr>
              <a:t>What this means in practice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▪ Global (bar/beeswarm) plots show which features drive risk across the whole portfolio.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▪ Local (waterfall) plots exist per applicant — a loan officer or regulator can see exactly why one specific application scored the way it did.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FAIRNESS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We looked for bias — and found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xgboost_tuned_pre_mitigation_CODE_GENDER_selec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89" y="1645920"/>
            <a:ext cx="5146661" cy="2834640"/>
          </a:xfrm>
          <a:prstGeom prst="rect">
            <a:avLst/>
          </a:prstGeom>
        </p:spPr>
      </p:pic>
      <p:pic>
        <p:nvPicPr>
          <p:cNvPr id="8" name="Picture 7" descr="xgboost_tuned_pre_mitigation_AGE_GROUP_selection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57" y="4343400"/>
            <a:ext cx="3895125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DC2626"/>
                </a:solidFill>
                <a:latin typeface="Calibri"/>
              </a:rPr>
              <a:t>0.677</a:t>
            </a:r>
          </a:p>
          <a:p>
            <a:pPr algn="ctr"/>
            <a:r>
              <a:rPr sz="1250">
                <a:solidFill>
                  <a:srgbClr val="4B5563"/>
                </a:solidFill>
                <a:latin typeface="Calibri"/>
              </a:rPr>
              <a:t>Gender parity ratio
(fails 0.80 threshold)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DC2626"/>
                </a:solidFill>
                <a:latin typeface="Calibri"/>
              </a:rPr>
              <a:t>0.547</a:t>
            </a:r>
          </a:p>
          <a:p>
            <a:pPr algn="ctr"/>
            <a:r>
              <a:rPr sz="1250">
                <a:solidFill>
                  <a:srgbClr val="4B5563"/>
                </a:solidFill>
                <a:latin typeface="Calibri"/>
              </a:rPr>
              <a:t>Age-group parity ratio
(fails 0.80 threshold)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00400"/>
            <a:ext cx="5257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▪ Method: Fairlearn MetricFrame audit — selection rate, demographic-parity ratio/difference, and equalized-odds difference per protected group.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▪ Threshold: the “four-fifths rule” (selection-rate ratio ≥ 0.80). It's a borrowed EEOC convention, not a codified ECOA/Reg B legal standard — used here as a practical flag for materially large gaps.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▪ Gender: female applicants approved at 74% vs. male 64% predicted selection rate.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▪ Age: the youngest group (&lt;25) is approved far less often than the oldest (55+) — the largest gap in the audit.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BIAS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Reweighing closes most of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xgboost_tuned_post_mitigation_CODE_GENDER_selec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22" y="1645920"/>
            <a:ext cx="5091595" cy="2788920"/>
          </a:xfrm>
          <a:prstGeom prst="rect">
            <a:avLst/>
          </a:prstGeom>
        </p:spPr>
      </p:pic>
      <p:pic>
        <p:nvPicPr>
          <p:cNvPr id="8" name="Picture 7" descr="xgboost_tuned_post_mitigation_AGE_GROUP_selection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814" y="4343400"/>
            <a:ext cx="3912611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69164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6A34A"/>
                </a:solidFill>
                <a:latin typeface="Calibri"/>
              </a:rPr>
              <a:t>0.68 → 0.82</a:t>
            </a:r>
          </a:p>
          <a:p>
            <a:pPr algn="ctr"/>
            <a:r>
              <a:rPr sz="1250">
                <a:solidFill>
                  <a:srgbClr val="4B5563"/>
                </a:solidFill>
                <a:latin typeface="Calibri"/>
              </a:rPr>
              <a:t>Gender parity ratio
(now passes 0.80)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69164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6A34A"/>
                </a:solidFill>
                <a:latin typeface="Calibri"/>
              </a:rPr>
              <a:t>0.55 → 0.81</a:t>
            </a:r>
          </a:p>
          <a:p>
            <a:pPr algn="ctr"/>
            <a:r>
              <a:rPr sz="1250">
                <a:solidFill>
                  <a:srgbClr val="4B5563"/>
                </a:solidFill>
                <a:latin typeface="Calibri"/>
              </a:rPr>
              <a:t>Age parity ratio
(now passes 0.80)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154680"/>
            <a:ext cx="5257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93B"/>
                </a:solidFill>
                <a:latin typeface="Calibri"/>
              </a:rPr>
              <a:t>▪ Method: Kamiran &amp; Calders (2012) reweighing — per-row sample weights that decorrelate the protected attribute from the label before retraining. Model-agnostic, no architecture change required.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93B"/>
                </a:solidFill>
                <a:latin typeface="Calibri"/>
              </a:rPr>
              <a:t>▪ Result: both gender (0.677→0.821) and age (0.547→0.813) now pass the four-fifths rule.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93B"/>
                </a:solidFill>
                <a:latin typeface="Calibri"/>
              </a:rPr>
              <a:t>▪ Honest tradeoff: ROC-AUC moved 0.769 → 0.722 (PR-AUC 0.259 → 0.214); Brier (calibration) improved to 0.119.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93B"/>
                </a:solidFill>
                <a:latin typeface="Calibri"/>
              </a:rPr>
              <a:t>▪ This is a fairness/accuracy tradeoff curve, not a free lunch — the business decision is how much of that ~5-point ROC-AUC to spend to fix a fair-lending exposure.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INDEPENDENT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Does the audit methodology generalize? Yes.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hmda_xgboost_derived_race_selec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00624"/>
            <a:ext cx="5486400" cy="31711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4B5563"/>
                </a:solidFill>
                <a:latin typeface="Calibri"/>
              </a:rPr>
              <a:t>716K real HMDA mortgage records, 2008–2017, nationwide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02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4B8A6"/>
                </a:solidFill>
                <a:latin typeface="Calibri"/>
              </a:rPr>
              <a:t>0.892</a:t>
            </a:r>
          </a:p>
          <a:p>
            <a:pPr algn="ctr"/>
            <a:r>
              <a:rPr sz="1250">
                <a:solidFill>
                  <a:srgbClr val="4B5563"/>
                </a:solidFill>
                <a:latin typeface="Calibri"/>
              </a:rPr>
              <a:t>Model ROC-AUC
(pricing-proxy target)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2402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DC2626"/>
                </a:solidFill>
                <a:latin typeface="Calibri"/>
              </a:rPr>
              <a:t>0.760</a:t>
            </a:r>
          </a:p>
          <a:p>
            <a:pPr algn="ctr"/>
            <a:r>
              <a:rPr sz="1250">
                <a:solidFill>
                  <a:srgbClr val="4B5563"/>
                </a:solidFill>
                <a:latin typeface="Calibri"/>
              </a:rPr>
              <a:t>Race parity ratio
(fails 0.80)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65760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▪ Same audit code, independently re-run on a completely different dataset, feature set, and label — the methodology is not overfit to Home Credit.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▪ Race: parity ratio 0.760 — fails the four-fifths rule (flagged).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▪ Sex: parity ratio 0.887 — passes.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▪ HMDA here is fairness-audit-only by design — its target is a pricing proxy (high-cost flag), never treated as a default model or compared apples-to-apples with Home Credit.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this project does 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93B"/>
                </a:solidFill>
                <a:latin typeface="Calibri"/>
              </a:rPr>
              <a:t>▪ The four-fifths rule is a borrowed EEOC employment-discrimination convention — not a codified ECOA / Reg B legal fair-lending standard. Treat it as a practical screen, not a compliance certification.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93B"/>
                </a:solidFill>
                <a:latin typeface="Calibri"/>
              </a:rPr>
              <a:t>▪ HMDA's target (high_cost_flag) is a rate-spread pricing proxy on originated loans only (this extract has no denials) — it is not an approval/denial model and is never compared 1:1 against Home Credit's default target.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93B"/>
                </a:solidFill>
                <a:latin typeface="Calibri"/>
              </a:rPr>
              <a:t>▪ Reweighing was the single mitigation technique implemented for this MVP (vs. the original proposal's reweighing + adversarial debiasing + equalized-odds postprocessing matrix) — other techniques may trade off accuracy and fairness differently.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93B"/>
                </a:solidFill>
                <a:latin typeface="Calibri"/>
              </a:rPr>
              <a:t>▪ Fairness was audited on the attributes available (gender/age for Home Credit, race/sex for HMDA) at a single ~50% classification threshold — results can shift at other operating thresholds.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93B"/>
                </a:solidFill>
                <a:latin typeface="Calibri"/>
              </a:rPr>
              <a:t>▪ This is a capstone-scope MVP, not a production-certified compliance pipeline — deploying to real lending decisions would need legal/compliance sign-off beyond this audit.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9169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we'd take this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9BA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257800" cy="42976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/>
          <a:lstStyle/>
          <a:p>
            <a:pPr algn="ctr"/>
            <a:r>
              <a:rPr b="1" sz="1650">
                <a:solidFill>
                  <a:srgbClr val="16335C"/>
                </a:solidFill>
                <a:latin typeface="Calibri"/>
              </a:rPr>
              <a:t>Near-term (next iteration)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sz="1350">
                <a:solidFill>
                  <a:srgbClr val="1E293B"/>
                </a:solidFill>
                <a:latin typeface="Calibri"/>
              </a:rPr>
              <a:t>▪ Decide the acceptable fairness/accuracy tradeoff point with legal &amp; risk stakeholders before any production discussion.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sz="1350">
                <a:solidFill>
                  <a:srgbClr val="1E293B"/>
                </a:solidFill>
                <a:latin typeface="Calibri"/>
              </a:rPr>
              <a:t>▪ Extend the mitigation comparison to adversarial debiasing and equalized-odds postprocessing (originally scoped, deferred for MVP).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sz="1350">
                <a:solidFill>
                  <a:srgbClr val="1E293B"/>
                </a:solidFill>
                <a:latin typeface="Calibri"/>
              </a:rPr>
              <a:t>▪ Re-run the fairness audit across multiple decision thresholds, not just 0.50.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257800" cy="42976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/>
          <a:lstStyle/>
          <a:p>
            <a:pPr algn="ctr"/>
            <a:r>
              <a:rPr b="1" sz="1650">
                <a:solidFill>
                  <a:srgbClr val="16335C"/>
                </a:solidFill>
                <a:latin typeface="Calibri"/>
              </a:rPr>
              <a:t>Longer-term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sz="1350">
                <a:solidFill>
                  <a:srgbClr val="1E293B"/>
                </a:solidFill>
                <a:latin typeface="Calibri"/>
              </a:rPr>
              <a:t>▪ Formal legal/compliance review of the four-fifths screen against ECOA / Reg B before any real lending use.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sz="1350">
                <a:solidFill>
                  <a:srgbClr val="1E293B"/>
                </a:solidFill>
                <a:latin typeface="Calibri"/>
              </a:rPr>
              <a:t>▪ Expand HMDA to post-2018 modern LAR data (adds denials) to enable a true approval/denial fairness audit, not just a pricing proxy.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sz="1350">
                <a:solidFill>
                  <a:srgbClr val="1E293B"/>
                </a:solidFill>
                <a:latin typeface="Calibri"/>
              </a:rPr>
              <a:t>▪ Add model monitoring for fairness/performance drift once (if) deployed.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9BA"/>
                </a:solidFill>
                <a:latin typeface="Calibri"/>
              </a:rPr>
              <a:t>Full pipeline, code, and reports: see project README and Developer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